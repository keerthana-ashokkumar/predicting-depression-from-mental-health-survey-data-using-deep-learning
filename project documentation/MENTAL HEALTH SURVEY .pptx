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4" r:id="rId4"/>
    <p:sldId id="261" r:id="rId5"/>
    <p:sldId id="262" r:id="rId6"/>
    <p:sldId id="263" r:id="rId7"/>
    <p:sldId id="260" r:id="rId8"/>
    <p:sldId id="265" r:id="rId9"/>
    <p:sldId id="266" r:id="rId10"/>
    <p:sldId id="267" r:id="rId11"/>
    <p:sldId id="268" r:id="rId12"/>
    <p:sldId id="269" r:id="rId13"/>
    <p:sldId id="271" r:id="rId14"/>
    <p:sldId id="272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01" autoAdjust="0"/>
    <p:restoredTop sz="91277" autoAdjust="0"/>
  </p:normalViewPr>
  <p:slideViewPr>
    <p:cSldViewPr snapToGrid="0">
      <p:cViewPr varScale="1">
        <p:scale>
          <a:sx n="78" d="100"/>
          <a:sy n="78" d="100"/>
        </p:scale>
        <p:origin x="6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06A251-15F5-443D-AF13-B6F3FE0B6FCA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256E5-A846-4F35-B3A6-C346BB781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319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256E5-A846-4F35-B3A6-C346BB78151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851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256E5-A846-4F35-B3A6-C346BB78151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57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256E5-A846-4F35-B3A6-C346BB78151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50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256E5-A846-4F35-B3A6-C346BB78151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465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256E5-A846-4F35-B3A6-C346BB78151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6614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256E5-A846-4F35-B3A6-C346BB781513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723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33CB3-55FE-D76D-E33E-4E814A005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79B05F-C9F0-B395-93CA-489B0F59BB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D6905-362E-28D9-3A73-72D868755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331A-B200-4CF2-B086-78EFAD20A44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CEC80-FDA5-2178-5783-319DD273D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DB02F-9FC3-5700-0E72-E72F045B5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053B3-D371-468D-B31A-DFCCD13C7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996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0DAA4-150F-155F-3B0A-9AEC3C171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FEE37-3FF2-6A46-47C4-E2E0987DD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B05B7-6801-85D6-779F-EF9CE7F7D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331A-B200-4CF2-B086-78EFAD20A44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8695F-8AF4-3AE2-AA6A-79D8670B3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76B82-CEE8-6442-EDA8-7128FA29A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053B3-D371-468D-B31A-DFCCD13C7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258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6236E-C183-27BC-4777-AA380B59E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2B669-2BCD-5972-551D-57375E3DC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5E095-CB83-A5DE-88E7-0413FB476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331A-B200-4CF2-B086-78EFAD20A44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4E44A-D87B-2802-A396-1DAA355FD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C002E-2D8A-16D1-41C6-0E2FDA689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053B3-D371-468D-B31A-DFCCD13C7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060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C3C10-94A5-A1DD-52E7-BD7D5BDB6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CA4F4-18EB-D380-AA8C-5AE7A0B771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5DE68-9FDC-A215-2BB8-4484B5521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540296-7A91-B888-5450-3AD14B127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331A-B200-4CF2-B086-78EFAD20A44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777403-5207-5523-812C-869AD796A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976D9D-7431-0095-E25D-BE3CA552D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053B3-D371-468D-B31A-DFCCD13C7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951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59C7D-AC1F-8761-CD9B-2437C60FB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43026-60F3-C2D7-6E86-398DD3B2E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AD70FA-5BCE-DFFB-CDCC-05BAD8AF1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E30236-62F4-8400-DE4D-11E201ED0E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650C7E-16ED-D6DF-101A-46ACA249A7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50F939-736A-3E75-9F8D-557E2B457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331A-B200-4CF2-B086-78EFAD20A44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0E3E47-2A26-C7EE-4AD7-FBDDB0419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9E1902-C2F7-F4D4-6C9F-8FA1A52F6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053B3-D371-468D-B31A-DFCCD13C7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860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70280-0112-249F-5F94-30858AC37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F49806-273C-BFD1-1643-EE1F2B6C7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331A-B200-4CF2-B086-78EFAD20A44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BC61DB-386E-A7AE-0C07-95AE58C12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0568E-724C-E077-BDD6-B4C3E29CB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053B3-D371-468D-B31A-DFCCD13C7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244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8744AE-8FD0-2AF3-0434-65106DC4D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331A-B200-4CF2-B086-78EFAD20A44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470B60-0387-CD82-45C2-1707A64BD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AF97B-FB73-7AF8-B1D9-4C3E27288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053B3-D371-468D-B31A-DFCCD13C7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673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0223-2DBB-15AD-A8D6-256C97004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7D810-8D58-D66A-6B1D-B5CA60A2D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9E8FD0-C6C6-8905-D6C6-D90A75312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2C420E-C53F-2A4A-8572-3F6BE7D81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331A-B200-4CF2-B086-78EFAD20A44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72C6F-BC8A-EFF3-8092-384380FB6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07D71-1121-5354-FCAD-6E5F3617D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053B3-D371-468D-B31A-DFCCD13C7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864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E5974-0DD2-82CF-782D-759717E00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66DF3B-2238-748D-619F-34B1FE996F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ED5DF5-1498-D688-CDF0-B649E9D1D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72692-FAAB-6433-A101-C1251AD82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331A-B200-4CF2-B086-78EFAD20A44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5E6404-B2BF-D59A-D6A4-1440FA0A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C6D29-7FC3-B5F2-FD1A-71E6823D4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053B3-D371-468D-B31A-DFCCD13C7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24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89C09-88E8-3967-E8E7-B01ED7EA8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4AF51D-4111-3139-6B24-C99FEDFC40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47B3E-C39F-9EDC-62A0-6497698E2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331A-B200-4CF2-B086-78EFAD20A44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376F-69F5-6A44-D56A-9D5B63F74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EA5E5-9764-3226-8512-7124A93D8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053B3-D371-468D-B31A-DFCCD13C7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0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19CD9A-C1D0-50B4-F75C-2887DA13E3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388775-3E38-5E0F-85B3-05436293B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BE19A-549D-D03A-7019-011AD8CCB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331A-B200-4CF2-B086-78EFAD20A44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7CFDB-000A-0E95-0092-0E23F883A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27766-691B-2641-2E97-5BDC54C37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053B3-D371-468D-B31A-DFCCD13C7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944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3414CB-D3F1-FFBC-8D20-D8FA45696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E240D-529D-68BE-F627-E361D06B6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AF76E-5E72-0EF8-38DD-29D907AF28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D331A-B200-4CF2-B086-78EFAD20A44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B3E49-0366-0ECD-F2FB-C3E413F25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99880-5CE9-60B6-E280-48F1ABCFC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053B3-D371-468D-B31A-DFCCD13C7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505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334D48D-78D9-84AB-9293-F7493DDD023A}"/>
              </a:ext>
            </a:extLst>
          </p:cNvPr>
          <p:cNvSpPr txBox="1">
            <a:spLocks/>
          </p:cNvSpPr>
          <p:nvPr/>
        </p:nvSpPr>
        <p:spPr>
          <a:xfrm>
            <a:off x="1150070" y="725455"/>
            <a:ext cx="10086681" cy="13188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PREDICTING DEPRESSION FROM MENTAL HEALTH SURVEY USING DEEP LEARNING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DBC4054-13BF-EA4B-C4C1-50A46686D2DD}"/>
              </a:ext>
            </a:extLst>
          </p:cNvPr>
          <p:cNvSpPr txBox="1">
            <a:spLocks/>
          </p:cNvSpPr>
          <p:nvPr/>
        </p:nvSpPr>
        <p:spPr>
          <a:xfrm>
            <a:off x="1150069" y="2121031"/>
            <a:ext cx="10086681" cy="4329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  <a:p>
            <a:endParaRPr lang="en-IN" dirty="0"/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–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PREDICTION	</a:t>
            </a:r>
          </a:p>
          <a:p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KEERTHANA A</a:t>
            </a:r>
          </a:p>
        </p:txBody>
      </p:sp>
    </p:spTree>
    <p:extLst>
      <p:ext uri="{BB962C8B-B14F-4D97-AF65-F5344CB8AC3E}">
        <p14:creationId xmlns:p14="http://schemas.microsoft.com/office/powerpoint/2010/main" val="4098375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4CDB4-02C5-BE7B-0921-C485AB81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456"/>
            <a:ext cx="10515600" cy="1011188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FLOW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56B213-C6D2-7F57-9E8F-C30CECA33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0644"/>
            <a:ext cx="10515600" cy="5214004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IN" sz="3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pPr marL="0" indent="0" algn="ctr">
              <a:buNone/>
            </a:pPr>
            <a:r>
              <a:rPr lang="en-IN" sz="3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sz="3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Data Preprocessing </a:t>
            </a:r>
          </a:p>
          <a:p>
            <a:pPr marL="0" indent="0" algn="ctr">
              <a:buNone/>
            </a:pP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marL="0" indent="0" algn="ctr">
              <a:buNone/>
            </a:pPr>
            <a:r>
              <a:rPr lang="en-IN" sz="3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Exploratory Data Analysis  (EDA)</a:t>
            </a:r>
          </a:p>
          <a:p>
            <a:pPr marL="0" indent="0" algn="ctr">
              <a:buNone/>
            </a:pPr>
            <a:r>
              <a:rPr lang="en-IN" sz="3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sz="3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Deep Learning Model</a:t>
            </a:r>
          </a:p>
          <a:p>
            <a:pPr marL="0" indent="0" algn="ctr">
              <a:buNone/>
            </a:pPr>
            <a:r>
              <a:rPr lang="en-IN" sz="3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sz="3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Hyperparameter Tuning</a:t>
            </a:r>
          </a:p>
          <a:p>
            <a:pPr marL="0" indent="0" algn="ctr">
              <a:buNone/>
            </a:pPr>
            <a:r>
              <a:rPr lang="en-IN" sz="3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sz="3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3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&amp; Comparison</a:t>
            </a:r>
          </a:p>
          <a:p>
            <a:pPr marL="0" indent="0" algn="ctr">
              <a:buNone/>
            </a:pPr>
            <a:r>
              <a:rPr lang="en-IN" sz="3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sz="3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Model Deployment Using Streamlit cloud </a:t>
            </a:r>
          </a:p>
          <a:p>
            <a:pPr marL="0" indent="0" algn="ctr">
              <a:buNone/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sz="3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Real-Time Depression Prediction</a:t>
            </a:r>
            <a:endParaRPr lang="en-IN" sz="2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31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FE0EC-2B5C-8850-524E-11277AAED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25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&amp; DATA PREPROCESSING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39B89-9D9F-C975-C13E-1BEFD3F7B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8924"/>
            <a:ext cx="10841610" cy="5008039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DETAILS</a:t>
            </a:r>
          </a:p>
          <a:p>
            <a:pPr marL="0" indent="0">
              <a:lnSpc>
                <a:spcPct val="10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Dataset: 140,700 rows × 20 columns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Dataset: 93,800 rows × 19 columns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Features: 8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Features: 10 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B18A39-77A8-C4B8-F8F4-B45391E2FCC9}"/>
              </a:ext>
            </a:extLst>
          </p:cNvPr>
          <p:cNvSpPr txBox="1"/>
          <p:nvPr/>
        </p:nvSpPr>
        <p:spPr>
          <a:xfrm>
            <a:off x="7006472" y="1501911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endParaRPr lang="en-IN" sz="28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BF245A1-F174-732F-58E2-B81B14EB2E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415233"/>
              </p:ext>
            </p:extLst>
          </p:nvPr>
        </p:nvGraphicFramePr>
        <p:xfrm>
          <a:off x="5448691" y="2358118"/>
          <a:ext cx="6551630" cy="2349152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201840">
                  <a:extLst>
                    <a:ext uri="{9D8B030D-6E8A-4147-A177-3AD203B41FA5}">
                      <a16:colId xmlns:a16="http://schemas.microsoft.com/office/drawing/2014/main" val="747528579"/>
                    </a:ext>
                  </a:extLst>
                </a:gridCol>
                <a:gridCol w="2174895">
                  <a:extLst>
                    <a:ext uri="{9D8B030D-6E8A-4147-A177-3AD203B41FA5}">
                      <a16:colId xmlns:a16="http://schemas.microsoft.com/office/drawing/2014/main" val="4261280388"/>
                    </a:ext>
                  </a:extLst>
                </a:gridCol>
                <a:gridCol w="2174895">
                  <a:extLst>
                    <a:ext uri="{9D8B030D-6E8A-4147-A177-3AD203B41FA5}">
                      <a16:colId xmlns:a16="http://schemas.microsoft.com/office/drawing/2014/main" val="4165763710"/>
                    </a:ext>
                  </a:extLst>
                </a:gridCol>
              </a:tblGrid>
              <a:tr h="388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Column 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Strategy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5107944"/>
                  </a:ext>
                </a:extLst>
              </a:tr>
              <a:tr h="639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Numerical Columns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Missing Values Handled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Median Imputation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8066408"/>
                  </a:ext>
                </a:extLst>
              </a:tr>
              <a:tr h="639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Categorical Columns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Missing Values Handled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Most Frequent Imputation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9835905"/>
                  </a:ext>
                </a:extLst>
              </a:tr>
              <a:tr h="680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Overall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Dataset cleaned successfully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Outliers Analysed using Boxplots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443556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EA89FE6-9A75-B173-5D5E-E667166F267D}"/>
              </a:ext>
            </a:extLst>
          </p:cNvPr>
          <p:cNvSpPr txBox="1"/>
          <p:nvPr/>
        </p:nvSpPr>
        <p:spPr>
          <a:xfrm>
            <a:off x="2820186" y="5653180"/>
            <a:ext cx="6551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 dataset successfully prepared for model training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6846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740D5-9C2E-2BA4-FE66-84ABE6208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895" y="242930"/>
            <a:ext cx="10515600" cy="80344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7E7DCCF-2833-410A-5D3C-8A9E17CFF34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895" y="1635029"/>
            <a:ext cx="4967584" cy="3796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E30013A-36CF-4513-EE41-CB8CC3F09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7127" y="2420486"/>
            <a:ext cx="127470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INSIGHTS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3A1E395-8D0D-08E7-2048-7DE536226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9695" y="2669513"/>
            <a:ext cx="555793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individuals belong to the non-depression class.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contains class imbalance.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distribution was analyzed before model training. </a:t>
            </a:r>
          </a:p>
        </p:txBody>
      </p:sp>
    </p:spTree>
    <p:extLst>
      <p:ext uri="{BB962C8B-B14F-4D97-AF65-F5344CB8AC3E}">
        <p14:creationId xmlns:p14="http://schemas.microsoft.com/office/powerpoint/2010/main" val="3775629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BD55664-1003-1F48-8CA4-5E1851500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197"/>
            <a:ext cx="10515600" cy="65297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ANALYSIS</a:t>
            </a: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12FCC1D-20C2-49F6-8580-405A135E532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579" y="995980"/>
            <a:ext cx="5028861" cy="3162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DE1F022-D605-86DF-70A2-60DC51991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6955" y="1064807"/>
            <a:ext cx="4588864" cy="3162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2D12EF-E026-371B-9062-1D4265F9A8BB}"/>
              </a:ext>
            </a:extLst>
          </p:cNvPr>
          <p:cNvSpPr txBox="1"/>
          <p:nvPr/>
        </p:nvSpPr>
        <p:spPr>
          <a:xfrm>
            <a:off x="3156155" y="4561918"/>
            <a:ext cx="70005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                               INSIGHTS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Depression cases are slightly higher among males.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 financial stress is associated with depression.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Feature relationships were analyzed before model training. </a:t>
            </a:r>
          </a:p>
        </p:txBody>
      </p:sp>
    </p:spTree>
    <p:extLst>
      <p:ext uri="{BB962C8B-B14F-4D97-AF65-F5344CB8AC3E}">
        <p14:creationId xmlns:p14="http://schemas.microsoft.com/office/powerpoint/2010/main" val="3163028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09FA3EA7-FD2D-0F73-3D62-4C4C53BA4B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90" y="1968669"/>
            <a:ext cx="5112569" cy="3950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23571DD-49ED-3216-2F93-BAF38C6916A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972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IN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</a:t>
            </a:r>
            <a:endParaRPr lang="en-IN" sz="4000" b="1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E9C7240-1009-3C9A-F677-C9C658C22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8589" y="2782669"/>
            <a:ext cx="127470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INSIGHTS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E363132-3A18-3695-5392-8993F637F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2747" y="2919331"/>
            <a:ext cx="624061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Academic Pressure shows higher relation with depression.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Financial Stress and Work Pressure also influence depression.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 has a negative correlation with depression. </a:t>
            </a:r>
          </a:p>
        </p:txBody>
      </p:sp>
    </p:spTree>
    <p:extLst>
      <p:ext uri="{BB962C8B-B14F-4D97-AF65-F5344CB8AC3E}">
        <p14:creationId xmlns:p14="http://schemas.microsoft.com/office/powerpoint/2010/main" val="481886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9F4BF-B43D-3F28-478B-51E618F1E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591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 &amp;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7B526-7750-3798-1517-49BAA52EE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658" y="1219200"/>
            <a:ext cx="10515600" cy="501675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Data                                                                         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                                                                  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Depression Prediction</a:t>
            </a:r>
          </a:p>
          <a:p>
            <a:pPr marL="0" indent="0">
              <a:buNone/>
            </a:pP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 developed using PyTorch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Binary Classification Problem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Dataset split into Train and Test sets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Feature Scaling applied using StandardScaler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Model trained for 100 epochs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24A2E6-9E0F-10A0-C1A6-0E42C68DF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896" y="1002890"/>
            <a:ext cx="3595781" cy="377470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F6F311D-A279-AD10-3759-9FF9F7480E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456139"/>
              </p:ext>
            </p:extLst>
          </p:nvPr>
        </p:nvGraphicFramePr>
        <p:xfrm>
          <a:off x="6292645" y="4925075"/>
          <a:ext cx="5545396" cy="182880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772698">
                  <a:extLst>
                    <a:ext uri="{9D8B030D-6E8A-4147-A177-3AD203B41FA5}">
                      <a16:colId xmlns:a16="http://schemas.microsoft.com/office/drawing/2014/main" val="1639583901"/>
                    </a:ext>
                  </a:extLst>
                </a:gridCol>
                <a:gridCol w="2772698">
                  <a:extLst>
                    <a:ext uri="{9D8B030D-6E8A-4147-A177-3AD203B41FA5}">
                      <a16:colId xmlns:a16="http://schemas.microsoft.com/office/drawing/2014/main" val="288275784"/>
                    </a:ext>
                  </a:extLst>
                </a:gridCol>
              </a:tblGrid>
              <a:tr h="347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8271835"/>
                  </a:ext>
                </a:extLst>
              </a:tr>
              <a:tr h="347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ReLU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Non-linear learning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3257337"/>
                  </a:ext>
                </a:extLst>
              </a:tr>
              <a:tr h="347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Dropout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Prevent Overfitting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9881892"/>
                  </a:ext>
                </a:extLst>
              </a:tr>
              <a:tr h="347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Optimization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0076684"/>
                  </a:ext>
                </a:extLst>
              </a:tr>
              <a:tr h="347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BCEWithLogitsLoss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Binary Classification Loss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178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815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77FC5-2985-4B5D-9591-F95C153DE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 PERFORMANCE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075AA12-FF37-FCAF-6C4A-9DA4C8ECB6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879756"/>
              </p:ext>
            </p:extLst>
          </p:nvPr>
        </p:nvGraphicFramePr>
        <p:xfrm>
          <a:off x="7620000" y="1966452"/>
          <a:ext cx="4247536" cy="2192595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115165">
                  <a:extLst>
                    <a:ext uri="{9D8B030D-6E8A-4147-A177-3AD203B41FA5}">
                      <a16:colId xmlns:a16="http://schemas.microsoft.com/office/drawing/2014/main" val="2666256070"/>
                    </a:ext>
                  </a:extLst>
                </a:gridCol>
                <a:gridCol w="2132371">
                  <a:extLst>
                    <a:ext uri="{9D8B030D-6E8A-4147-A177-3AD203B41FA5}">
                      <a16:colId xmlns:a16="http://schemas.microsoft.com/office/drawing/2014/main" val="2035751305"/>
                    </a:ext>
                  </a:extLst>
                </a:gridCol>
              </a:tblGrid>
              <a:tr h="4385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Metric</a:t>
                      </a:r>
                      <a:endParaRPr lang="en-IN" b="1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Score</a:t>
                      </a:r>
                      <a:endParaRPr lang="en-IN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6874730"/>
                  </a:ext>
                </a:extLst>
              </a:tr>
              <a:tr h="4385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93.58%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2165802"/>
                  </a:ext>
                </a:extLst>
              </a:tr>
              <a:tr h="4385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83.15%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605154"/>
                  </a:ext>
                </a:extLst>
              </a:tr>
              <a:tr h="4385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81.10%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7581194"/>
                  </a:ext>
                </a:extLst>
              </a:tr>
              <a:tr h="4385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F1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82.11%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9574583"/>
                  </a:ext>
                </a:extLst>
              </a:tr>
            </a:tbl>
          </a:graphicData>
        </a:graphic>
      </p:graphicFrame>
      <p:pic>
        <p:nvPicPr>
          <p:cNvPr id="3074" name="Picture 2">
            <a:extLst>
              <a:ext uri="{FF2B5EF4-FFF2-40B4-BE49-F238E27FC236}">
                <a16:creationId xmlns:a16="http://schemas.microsoft.com/office/drawing/2014/main" id="{DCD5629A-980B-92D9-777E-CED1ACDFB1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545" y="1588447"/>
            <a:ext cx="5501604" cy="3590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889377-C7B0-AF6E-D647-837CF46DFDC8}"/>
              </a:ext>
            </a:extLst>
          </p:cNvPr>
          <p:cNvSpPr txBox="1"/>
          <p:nvPr/>
        </p:nvSpPr>
        <p:spPr>
          <a:xfrm>
            <a:off x="2408903" y="5852192"/>
            <a:ext cx="8219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deep learning model achieved high accuracy with balanced precision and recall.</a:t>
            </a:r>
          </a:p>
        </p:txBody>
      </p:sp>
    </p:spTree>
    <p:extLst>
      <p:ext uri="{BB962C8B-B14F-4D97-AF65-F5344CB8AC3E}">
        <p14:creationId xmlns:p14="http://schemas.microsoft.com/office/powerpoint/2010/main" val="267352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3457F-6322-E99A-2796-35D6E9B6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927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A67F53C-BB34-DC4D-B8B3-7E65025BCD7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21856"/>
            <a:ext cx="4855474" cy="3864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91A493-6EF2-F15F-281D-9F0E1FF8D0A8}"/>
              </a:ext>
            </a:extLst>
          </p:cNvPr>
          <p:cNvSpPr txBox="1"/>
          <p:nvPr/>
        </p:nvSpPr>
        <p:spPr>
          <a:xfrm>
            <a:off x="6498328" y="2690336"/>
            <a:ext cx="62246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True Negative and True Positive values.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predictions are mostly accurate.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 False Positive and False Negative rates. </a:t>
            </a:r>
          </a:p>
        </p:txBody>
      </p:sp>
    </p:spTree>
    <p:extLst>
      <p:ext uri="{BB962C8B-B14F-4D97-AF65-F5344CB8AC3E}">
        <p14:creationId xmlns:p14="http://schemas.microsoft.com/office/powerpoint/2010/main" val="4025709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A39C5-9867-63E9-E9CE-B46DE1059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7262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BIAS EVALUATION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02C4032-2A3E-BED6-A0EE-94034D0EC6F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15726"/>
            <a:ext cx="4901194" cy="3593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F014069D-DC48-A041-6647-687FF0246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15726"/>
            <a:ext cx="5089422" cy="3582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F97740-4685-2D25-B3A5-247689CA7052}"/>
              </a:ext>
            </a:extLst>
          </p:cNvPr>
          <p:cNvSpPr txBox="1"/>
          <p:nvPr/>
        </p:nvSpPr>
        <p:spPr>
          <a:xfrm>
            <a:off x="3195484" y="511386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/>
              <a:t>Insights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is balanced across genders.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accuracy observed across age groups.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reduced prediction bias. </a:t>
            </a:r>
          </a:p>
        </p:txBody>
      </p:sp>
    </p:spTree>
    <p:extLst>
      <p:ext uri="{BB962C8B-B14F-4D97-AF65-F5344CB8AC3E}">
        <p14:creationId xmlns:p14="http://schemas.microsoft.com/office/powerpoint/2010/main" val="3607316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06E43-6408-493B-16D8-002A93360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2" y="256313"/>
            <a:ext cx="10515600" cy="662782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LOSS CURVE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8B88FB6-8AF5-B3EB-7DBB-CC3BCC9C09A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8083" y="919095"/>
            <a:ext cx="6318517" cy="4297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AF6172-9223-FD8F-9ED5-F128461FE28D}"/>
              </a:ext>
            </a:extLst>
          </p:cNvPr>
          <p:cNvSpPr txBox="1"/>
          <p:nvPr/>
        </p:nvSpPr>
        <p:spPr>
          <a:xfrm>
            <a:off x="2045109" y="5338740"/>
            <a:ext cx="64204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INSIGHTS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Training loss consistently decreased across epochs.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Loss stabilization indicates effective learning and convergence.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major fluctuations observed during training. </a:t>
            </a:r>
          </a:p>
        </p:txBody>
      </p:sp>
    </p:spTree>
    <p:extLst>
      <p:ext uri="{BB962C8B-B14F-4D97-AF65-F5344CB8AC3E}">
        <p14:creationId xmlns:p14="http://schemas.microsoft.com/office/powerpoint/2010/main" val="671427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87324-40BF-F724-4160-816BC13A7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743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75030-DF1D-EBD3-FCEA-85CD3544D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284" y="1910063"/>
            <a:ext cx="5161935" cy="2182761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parameter combinations were tested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hidden layer sizes were evaluated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values were tuned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rates were optimized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 values were compared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6A3F7A-1167-9BF4-E83F-645052966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28844"/>
              </p:ext>
            </p:extLst>
          </p:nvPr>
        </p:nvGraphicFramePr>
        <p:xfrm>
          <a:off x="6096000" y="2095155"/>
          <a:ext cx="5948515" cy="1812576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189703">
                  <a:extLst>
                    <a:ext uri="{9D8B030D-6E8A-4147-A177-3AD203B41FA5}">
                      <a16:colId xmlns:a16="http://schemas.microsoft.com/office/drawing/2014/main" val="2332044706"/>
                    </a:ext>
                  </a:extLst>
                </a:gridCol>
                <a:gridCol w="1189703">
                  <a:extLst>
                    <a:ext uri="{9D8B030D-6E8A-4147-A177-3AD203B41FA5}">
                      <a16:colId xmlns:a16="http://schemas.microsoft.com/office/drawing/2014/main" val="2210072563"/>
                    </a:ext>
                  </a:extLst>
                </a:gridCol>
                <a:gridCol w="1189703">
                  <a:extLst>
                    <a:ext uri="{9D8B030D-6E8A-4147-A177-3AD203B41FA5}">
                      <a16:colId xmlns:a16="http://schemas.microsoft.com/office/drawing/2014/main" val="3830359814"/>
                    </a:ext>
                  </a:extLst>
                </a:gridCol>
                <a:gridCol w="1189703">
                  <a:extLst>
                    <a:ext uri="{9D8B030D-6E8A-4147-A177-3AD203B41FA5}">
                      <a16:colId xmlns:a16="http://schemas.microsoft.com/office/drawing/2014/main" val="4196467215"/>
                    </a:ext>
                  </a:extLst>
                </a:gridCol>
                <a:gridCol w="1189703">
                  <a:extLst>
                    <a:ext uri="{9D8B030D-6E8A-4147-A177-3AD203B41FA5}">
                      <a16:colId xmlns:a16="http://schemas.microsoft.com/office/drawing/2014/main" val="2625717163"/>
                    </a:ext>
                  </a:extLst>
                </a:gridCol>
              </a:tblGrid>
              <a:tr h="390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Hidden Layers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Dropout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Learning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Epochs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F1 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4078313"/>
                  </a:ext>
                </a:extLst>
              </a:tr>
              <a:tr h="390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[64, 32]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0.811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2512617"/>
                  </a:ext>
                </a:extLst>
              </a:tr>
              <a:tr h="390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[128, 64]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0.820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7860780"/>
                  </a:ext>
                </a:extLst>
              </a:tr>
              <a:tr h="390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[128, 64]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⭐ 0.821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640162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32A2BD5-467F-18B7-D964-EFA669206689}"/>
              </a:ext>
            </a:extLst>
          </p:cNvPr>
          <p:cNvSpPr txBox="1"/>
          <p:nvPr/>
        </p:nvSpPr>
        <p:spPr>
          <a:xfrm>
            <a:off x="747252" y="5088485"/>
            <a:ext cx="10962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“Best performance was achieved using hidden layers [128, 64], dropout 0.3, learning rate 0.001, and 100 epochs.”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3664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5AC82-2116-6B15-5130-CEDD1FD96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 &amp; FINAL MODEL SELECTION 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5458F27B-D37A-79BE-84DA-14F212F02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8" y="1704208"/>
            <a:ext cx="5754012" cy="3870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B5E5B91-4493-8600-759D-4124DEC2D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0968" y="2421757"/>
            <a:ext cx="525013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Machine Learning models were evaluated.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 produced balanced performance.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and F1 Score were achieved.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was selected as the final deployment model </a:t>
            </a:r>
          </a:p>
        </p:txBody>
      </p:sp>
    </p:spTree>
    <p:extLst>
      <p:ext uri="{BB962C8B-B14F-4D97-AF65-F5344CB8AC3E}">
        <p14:creationId xmlns:p14="http://schemas.microsoft.com/office/powerpoint/2010/main" val="584576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838FC-1817-4283-0BFA-51709AFD6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872" y="367350"/>
            <a:ext cx="10913238" cy="63554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 CLOUD DEPLOYMENT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75FBFC-7320-31B6-FCDA-76AC1C0746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2953" t="10217"/>
          <a:stretch>
            <a:fillRect/>
          </a:stretch>
        </p:blipFill>
        <p:spPr>
          <a:xfrm>
            <a:off x="650995" y="1120907"/>
            <a:ext cx="4574025" cy="28316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1210FA-09A5-4DCE-698E-C3FE0F9F73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967" t="18265" r="20121" b="8615"/>
          <a:stretch>
            <a:fillRect/>
          </a:stretch>
        </p:blipFill>
        <p:spPr>
          <a:xfrm>
            <a:off x="376848" y="3952535"/>
            <a:ext cx="5122318" cy="28316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9E6799-A6F3-86CF-519B-ECC129CB807C}"/>
              </a:ext>
            </a:extLst>
          </p:cNvPr>
          <p:cNvSpPr txBox="1"/>
          <p:nvPr/>
        </p:nvSpPr>
        <p:spPr>
          <a:xfrm>
            <a:off x="6317768" y="1906333"/>
            <a:ext cx="6326515" cy="119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Depression Prediction system was deployed using Streamlit Cloud.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enter mental health details and receive real-time depression predictions using the Deep Learning model.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7DD10E-6EFC-469F-7423-A85A7F54C838}"/>
              </a:ext>
            </a:extLst>
          </p:cNvPr>
          <p:cNvSpPr txBox="1"/>
          <p:nvPr/>
        </p:nvSpPr>
        <p:spPr>
          <a:xfrm>
            <a:off x="6692836" y="3831363"/>
            <a:ext cx="4477479" cy="644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Link:</a:t>
            </a:r>
          </a:p>
          <a:p>
            <a:r>
              <a:rPr lang="en-IN" u="sng" dirty="0">
                <a:solidFill>
                  <a:srgbClr val="FF0000"/>
                </a:solidFill>
              </a:rPr>
              <a:t>https://predictingdepression.streamlit.app/</a:t>
            </a:r>
          </a:p>
        </p:txBody>
      </p:sp>
    </p:spTree>
    <p:extLst>
      <p:ext uri="{BB962C8B-B14F-4D97-AF65-F5344CB8AC3E}">
        <p14:creationId xmlns:p14="http://schemas.microsoft.com/office/powerpoint/2010/main" val="436005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24CE4-2D1F-BAD2-1857-0AF691160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923" y="620763"/>
            <a:ext cx="4188542" cy="775417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AF060-C041-802B-BB04-AEB209225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7439" y="2356566"/>
            <a:ext cx="6988277" cy="1603375"/>
          </a:xfrm>
        </p:spPr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depression prediction system developed successfully.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 achieved good prediction performance.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deployed using Streamlit Cloud for real-time prediction.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helps in early depression risk identification.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0087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</TotalTime>
  <Words>591</Words>
  <Application>Microsoft Office PowerPoint</Application>
  <PresentationFormat>Widescreen</PresentationFormat>
  <Paragraphs>168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WORK FLOW</vt:lpstr>
      <vt:lpstr>DATASET OVERVIEW &amp; DATA PREPROCESSING</vt:lpstr>
      <vt:lpstr>UNIVARIATE ANALYSIS</vt:lpstr>
      <vt:lpstr>BIVARIATE ANALYSIS</vt:lpstr>
      <vt:lpstr>PowerPoint Presentation</vt:lpstr>
      <vt:lpstr>MODEL BUILDING &amp; ARCHITECTURE</vt:lpstr>
      <vt:lpstr>DEEP LEARNING MODEL PERFORMANCE</vt:lpstr>
      <vt:lpstr>CONFUSION MATRIX</vt:lpstr>
      <vt:lpstr>BIAS EVALUATION</vt:lpstr>
      <vt:lpstr>TRAINING LOSS CURVE</vt:lpstr>
      <vt:lpstr>HYPERPARAMETER TUNING</vt:lpstr>
      <vt:lpstr>MODEL COMPARISON &amp; FINAL MODEL SELECTION </vt:lpstr>
      <vt:lpstr>STREAMLIT CLOUD DEPLOYMENT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logesh kumar</dc:creator>
  <cp:lastModifiedBy>logesh kumar</cp:lastModifiedBy>
  <cp:revision>17</cp:revision>
  <dcterms:created xsi:type="dcterms:W3CDTF">2026-05-21T05:50:44Z</dcterms:created>
  <dcterms:modified xsi:type="dcterms:W3CDTF">2026-05-28T19:08:37Z</dcterms:modified>
</cp:coreProperties>
</file>